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22e760c8dd4f68" /><Relationship Type="http://schemas.openxmlformats.org/officeDocument/2006/relationships/extended-properties" Target="/docProps/app.xml" Id="R726ee4125f12432b" /><Relationship Type="http://schemas.openxmlformats.org/officeDocument/2006/relationships/officeDocument" Target="/ppt/presentation.xml" Id="R52e779399c9c47f6" /></Relationships>
</file>

<file path=ppt/presentation.xml><?xml version="1.0" encoding="utf-8"?>
<p:presentation xmlns:p="http://schemas.openxmlformats.org/presentationml/2006/main">
  <p:sldMasterIdLst>
    <p:sldMasterId xmlns:r="http://schemas.openxmlformats.org/officeDocument/2006/relationships" id="2147483648" r:id="R23c36b9f1f1a41ad"/>
  </p:sldMasterIdLst>
  <p:notesMasterIdLst>
    <p:notesMasterId xmlns:r="http://schemas.openxmlformats.org/officeDocument/2006/relationships" r:id="R77fa805d4c74497d"/>
  </p:notesMasterIdLst>
  <p:sldIdLst>
    <p:sldId xmlns:r="http://schemas.openxmlformats.org/officeDocument/2006/relationships" id="256" r:id="Rd6d8763e91374f12"/>
    <p:sldId xmlns:r="http://schemas.openxmlformats.org/officeDocument/2006/relationships" id="257" r:id="R36c66863344848eb"/>
    <p:sldId xmlns:r="http://schemas.openxmlformats.org/officeDocument/2006/relationships" id="258" r:id="Reb6a2b0f4a5b46a8"/>
    <p:sldId xmlns:r="http://schemas.openxmlformats.org/officeDocument/2006/relationships" id="259" r:id="R8eee1b9519c947cb"/>
    <p:sldId xmlns:r="http://schemas.openxmlformats.org/officeDocument/2006/relationships" id="260" r:id="R4a1f49df17d54351"/>
    <p:sldId xmlns:r="http://schemas.openxmlformats.org/officeDocument/2006/relationships" id="261" r:id="Rc0dd127eadac45ed"/>
    <p:sldId xmlns:r="http://schemas.openxmlformats.org/officeDocument/2006/relationships" id="262" r:id="R39483ef9ecb645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87f1840fe542dc" /><Relationship Type="http://schemas.openxmlformats.org/officeDocument/2006/relationships/slideMaster" Target="/ppt/slideMasters/slideMaster1.xml" Id="R23c36b9f1f1a41ad" /><Relationship Type="http://schemas.openxmlformats.org/officeDocument/2006/relationships/notesMaster" Target="/ppt/notesMasters/notesMaster1.xml" Id="R77fa805d4c74497d" /><Relationship Type="http://schemas.openxmlformats.org/officeDocument/2006/relationships/presProps" Target="/ppt/presProps.xml" Id="Raaba1e6bef324442" /><Relationship Type="http://schemas.openxmlformats.org/officeDocument/2006/relationships/tableStyles" Target="/ppt/tableStyles.xml" Id="R3dca4d9db6984aa0" /><Relationship Type="http://schemas.openxmlformats.org/officeDocument/2006/relationships/slide" Target="/ppt/slides/slide1.xml" Id="Rd6d8763e91374f12" /><Relationship Type="http://schemas.openxmlformats.org/officeDocument/2006/relationships/slide" Target="/ppt/slides/slide2.xml" Id="R36c66863344848eb" /><Relationship Type="http://schemas.openxmlformats.org/officeDocument/2006/relationships/slide" Target="/ppt/slides/slide3.xml" Id="Reb6a2b0f4a5b46a8" /><Relationship Type="http://schemas.openxmlformats.org/officeDocument/2006/relationships/slide" Target="/ppt/slides/slide4.xml" Id="R8eee1b9519c947cb" /><Relationship Type="http://schemas.openxmlformats.org/officeDocument/2006/relationships/slide" Target="/ppt/slides/slide5.xml" Id="R4a1f49df17d54351" /><Relationship Type="http://schemas.openxmlformats.org/officeDocument/2006/relationships/slide" Target="/ppt/slides/slide6.xml" Id="Rc0dd127eadac45ed" /><Relationship Type="http://schemas.openxmlformats.org/officeDocument/2006/relationships/slide" Target="/ppt/slides/slide7.xml" Id="R39483ef9ecb645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81268fb61e40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94089aa193415d" /><Relationship Type="http://schemas.openxmlformats.org/officeDocument/2006/relationships/notesMaster" Target="/ppt/notesMasters/notesMaster1.xml" Id="Rf4e4dfe9469048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de486a9c4a4c40" /><Relationship Type="http://schemas.openxmlformats.org/officeDocument/2006/relationships/notesMaster" Target="/ppt/notesMasters/notesMaster1.xml" Id="R32fd9981f5c843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a22f97aa374447" /><Relationship Type="http://schemas.openxmlformats.org/officeDocument/2006/relationships/notesMaster" Target="/ppt/notesMasters/notesMaster1.xml" Id="Rc3b47a61b65742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18f6e8a9f446c2" /><Relationship Type="http://schemas.openxmlformats.org/officeDocument/2006/relationships/notesMaster" Target="/ppt/notesMasters/notesMaster1.xml" Id="Ra2d2bd233f1747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0bcd3997fb4716" /><Relationship Type="http://schemas.openxmlformats.org/officeDocument/2006/relationships/notesMaster" Target="/ppt/notesMasters/notesMaster1.xml" Id="Rbaba4277930442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c06baf4b62427c" /><Relationship Type="http://schemas.openxmlformats.org/officeDocument/2006/relationships/notesMaster" Target="/ppt/notesMasters/notesMaster1.xml" Id="Rb89b2bb88d2d4f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1317ad47ae4ccc" /><Relationship Type="http://schemas.openxmlformats.org/officeDocument/2006/relationships/notesMaster" Target="/ppt/notesMasters/notesMaster1.xml" Id="R359a3097661647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 giây.</a:t>
            </a:r>
          </a:p>
          <a:p xmlns:a="http://schemas.openxmlformats.org/drawingml/2006/main">
            <a:r>
              <a:t>Khi khảo sát thị trường game, khó khăn không chỉ là tìm câu trả lời mà còn là biết câu trả lời dựa vào đâu. Một chỉ số có thể đúng nhưng dùng sai quốc gia, kỳ đo hoặc định nghĩa. MVP này hỗ trợ người nghiên cứu đọc nguồn, tạo nhận định và mở lại bằng chứng để kiểm tra trước khi quyết định.</a:t>
            </a:r>
          </a:p>
          <a:p xmlns:a="http://schemas.openxmlformats.org/drawingml/2006/main">
            <a:r>
              <a:t/>
            </a:r>
          </a:p>
          <a:p xmlns:a="http://schemas.openxmlformats.org/drawingml/2006/main">
            <a:r>
              <a:t>[Sources]</a:t>
            </a:r>
          </a:p>
          <a:p xmlns:a="http://schemas.openxmlformats.org/drawingml/2006/main">
            <a:r>
              <a:t>docs/MISSION_2.md; docs/PRODUCT_SPEC.md; README.md (repository project documents)</a:t>
            </a:r>
          </a:p>
          <a:p xmlns:a="http://schemas.openxmlformats.org/drawingml/2006/main">
            <a:r>
              <a:t>https://github.com/mzuyyy/Mission-2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Người dùng chốt câu hỏi và phạm vi rồi cung cấp URL công khai hoặc PDF có lớp chữ. Hệ thống lưu snapshot, hash và vị trí trích dẫn. Một LLM cấu hình được thực hiện trích xuất và tổng hợp. Code kiểm quote và ID; các quy tắc xử lý phạm vi, mâu thuẫn và recommendation. Người dùng mở nguồn, ghi đánh giá và xuất bản kết quả theo phiên bản. Nguồn được coi là dữ liệu không tin cậy, không phải chỉ dẫn cho hệ thống.</a:t>
            </a:r>
          </a:p>
          <a:p xmlns:a="http://schemas.openxmlformats.org/drawingml/2006/main">
            <a:r>
              <a:t/>
            </a:r>
          </a:p>
          <a:p xmlns:a="http://schemas.openxmlformats.org/drawingml/2006/main">
            <a:r>
              <a:t>[Sources]</a:t>
            </a:r>
          </a:p>
          <a:p xmlns:a="http://schemas.openxmlformats.org/drawingml/2006/main">
            <a:r>
              <a:t>docs/ARCHITECTURE.md; docs/DATA_CONTRACTS.md</a:t>
            </a:r>
          </a:p>
          <a:p xmlns:a="http://schemas.openxmlformats.org/drawingml/2006/main">
            <a:r>
              <a:t>src/gamota_research/pipeline.py; citations.py; validation.py; storage.py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Chuyển sang ứng dụng để demo. Nêu rõ ảnh trên slide và bundle dùng ở đây là replay synthetic từ browser test, không phải nghiên cứu thị trường live. Mở một nhận định, bấm Mở bằng chứng để thấy quote, nguồn và khoảng ký tự. Sang Kiểm tra, đánh dấu needs_review rồi lưu thành phiên bản mới và tải JSON. Nếu demo một report live đã lưu, phải nói rõ thời điểm chạy và trạng thái chưa được chuyên viên xác minh. Khi quota còn bị chặn, không diễn replay thành một lượt sinh AI mới.</a:t>
            </a:r>
          </a:p>
          <a:p xmlns:a="http://schemas.openxmlformats.org/drawingml/2006/main">
            <a:r>
              <a:t/>
            </a:r>
          </a:p>
          <a:p xmlns:a="http://schemas.openxmlformats.org/drawingml/2006/main">
            <a:r>
              <a:t>[Sources]</a:t>
            </a:r>
          </a:p>
          <a:p xmlns:a="http://schemas.openxmlformats.org/drawingml/2006/main">
            <a:r>
              <a:t>eval/runs/browser/replay_1280.png: own Chromium screenshot, synthetic input and mocked LLM, 15/10/2026</a:t>
            </a:r>
          </a:p>
          <a:p xmlns:a="http://schemas.openxmlformats.org/drawingml/2006/main">
            <a:r>
              <a:t>tests/browser/test_browser.py; eval/runs/submission_browser.xml: 1 passed, 10.55s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35 giây.</a:t>
            </a:r>
          </a:p>
          <a:p xmlns:a="http://schemas.openxmlformats.org/drawingml/2006/main">
            <a:r>
              <a:t>MVP không chấm điểm tin cậy phần trăm tùy ý. Đánh giá nguồn gắn với nhận định, phương pháp và phạm vi cụ thể. Khi thiếu chỉ số, hệ thống giữ unknown thay vì dùng số không. Hai chỉ số như lượt tải và doanh thu có thể đi khác chiều mà không mâu thuẫn. Với xung đột cùng phạm vi chưa giải quyết, recommendation bị chặn và cần bước bổ sung dữ liệu. Nhãn hỗ trợ do model đề xuất vẫn tách khỏi đánh giá của người đọc.</a:t>
            </a:r>
          </a:p>
          <a:p xmlns:a="http://schemas.openxmlformats.org/drawingml/2006/main">
            <a:r>
              <a:t/>
            </a:r>
          </a:p>
          <a:p xmlns:a="http://schemas.openxmlformats.org/drawingml/2006/main">
            <a:r>
              <a:t>[Sources]</a:t>
            </a:r>
          </a:p>
          <a:p xmlns:a="http://schemas.openxmlformats.org/drawingml/2006/main">
            <a:r>
              <a:t>src/gamota_research/sources.py; validation.py; validation_helpers.py; storage.py</a:t>
            </a:r>
          </a:p>
          <a:p xmlns:a="http://schemas.openxmlformats.org/drawingml/2006/main">
            <a:r>
              <a:t>tests/unit/test_rules.py; tests/unit/test_integrity.py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Bộ bài nộp có hơn năm tình huống, mỗi ca ghi kỳ vọng, kết quả thực tế, đánh giá và điều học được. Có ca đổi nhiệm vụ, ca thiếu dữ liệu, mâu thuẫn, quote bịa, PDF nhiều cột và review. Các ca offline dùng synthetic hoặc mock để kiểm logic. Nguồn thị trường thật được ghi riêng: report Sea PDF trước sửa có lỗi nội dung dù quote hợp lệ; lượt Gemini sau sửa bị HTTP 429. Vì vậy không cộng tất cả thành tỷ lệ nghiên cứu thành công.</a:t>
            </a:r>
          </a:p>
          <a:p xmlns:a="http://schemas.openxmlformats.org/drawingml/2006/main">
            <a:r>
              <a:t/>
            </a:r>
          </a:p>
          <a:p xmlns:a="http://schemas.openxmlformats.org/drawingml/2006/main">
            <a:r>
              <a:t>[Sources]</a:t>
            </a:r>
          </a:p>
          <a:p xmlns:a="http://schemas.openxmlformats.org/drawingml/2006/main">
            <a:r>
              <a:t>docs/SUBMISSION_TEST_CASES.md; docs/TEST_RESULTS.md; eval/results_actual.csv</a:t>
            </a:r>
          </a:p>
          <a:p xmlns:a="http://schemas.openxmlformats.org/drawingml/2006/main">
            <a:r>
              <a:t>eval/runs/pdf_layout_offline_final.xml: 67 passed; eval/runs/submission_browser.xml: 1 passed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Đây là lỗi thật đã quan sát, không phải lỗi được cố tạo để đủ checklist. Quote của ca PDF đều khớp nhưng một số nhận định lấy số ở cột Monee để gán cho Garena Bookings và trộn kỳ đo. Tôi đổi parser sang giữ bố cục, giữ chữ xoay và chọn nguyên trang thay vì tách mảnh số. Regression đỏ trước sửa đã xanh sau sửa. Tuy nhiên quota Gemini đang trả 429 nên chưa thể chứng minh model đã hết lỗi ngữ nghĩa. Không nâng nhãn thành đã xác minh chỉ vì test parser đạt.</a:t>
            </a:r>
          </a:p>
          <a:p xmlns:a="http://schemas.openxmlformats.org/drawingml/2006/main">
            <a:r>
              <a:t/>
            </a:r>
          </a:p>
          <a:p xmlns:a="http://schemas.openxmlformats.org/drawingml/2006/main">
            <a:r>
              <a:t>[Sources]</a:t>
            </a:r>
          </a:p>
          <a:p xmlns:a="http://schemas.openxmlformats.org/drawingml/2006/main">
            <a:r>
              <a:t>docs/DECISIONS.md D016; docs/TEST_RESULTS.md</a:t>
            </a:r>
          </a:p>
          <a:p xmlns:a="http://schemas.openxmlformats.org/drawingml/2006/main">
            <a:r>
              <a:t>eval/runs/fa5bafbbe8004b5b8509274e1a56d59e/R02/agent_review.json: assistant audit, not independent human grading</a:t>
            </a:r>
          </a:p>
          <a:p xmlns:a="http://schemas.openxmlformats.org/drawingml/2006/main">
            <a:r>
              <a:t>eval/runs/24e3d68b0c3745b58ee1abb8528e0d05; eval/runs/e91bc1ec57d241fc8814855b5281e6d0: HTTP 429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 giây.</a:t>
            </a:r>
          </a:p>
          <a:p xmlns:a="http://schemas.openxmlformats.org/drawingml/2006/main">
            <a:r>
              <a:t>Repo đã public, README có lệnh cài và chạy local; file PowerPoint này có ghi chú để trình bày trong khoảng bốn phút bốn mươi giây. Trạng thái deploy thực tế được cập nhật trong README; không coi đăng nhập hosting là đã deploy. Phần còn thiếu là xác nhận ngữ nghĩa, hoàn thiện độ bao phủ và đo lợi ích với người dùng thật. MVP chứng minh luồng kiểm chứng chạy được nhưng chưa chứng minh mọi kết luận thị trường đều đúng. Video trình bày vẫn cần được quay thật.</a:t>
            </a:r>
          </a:p>
          <a:p xmlns:a="http://schemas.openxmlformats.org/drawingml/2006/main">
            <a:r>
              <a:t/>
            </a:r>
          </a:p>
          <a:p xmlns:a="http://schemas.openxmlformats.org/drawingml/2006/main">
            <a:r>
              <a:t>[Sources]</a:t>
            </a:r>
          </a:p>
          <a:p xmlns:a="http://schemas.openxmlformats.org/drawingml/2006/main">
            <a:r>
              <a:t>README.md; STATUS.md; docs/SUBMISSION.md; docs/DEPLOYMENT.md</a:t>
            </a:r>
          </a:p>
          <a:p xmlns:a="http://schemas.openxmlformats.org/drawingml/2006/main">
            <a:r>
              <a:t>https://github.com/mzuyyy/Mission-2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e2e3cc0b3346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8c08f5af3e4fbd" /><Relationship Type="http://schemas.openxmlformats.org/officeDocument/2006/relationships/slideLayout" Target="/ppt/slideLayouts/slideLayout1.xml" Id="R27b42418176049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b42418176049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298ec5d94e42a6" /><Relationship Type="http://schemas.openxmlformats.org/officeDocument/2006/relationships/notesSlide" Target="/ppt/notesSlides/notesSlide1.xml" Id="R7c2d49ff4a3441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1387c1106384a10" /><Relationship Type="http://schemas.openxmlformats.org/officeDocument/2006/relationships/notesSlide" Target="/ppt/notesSlides/notesSlide2.xml" Id="R1540dca524c647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ca41d3fac54144" /><Relationship Type="http://schemas.openxmlformats.org/officeDocument/2006/relationships/image" Target="/ppt/media/image.png" Id="R43749b6717f74e1a" /><Relationship Type="http://schemas.openxmlformats.org/officeDocument/2006/relationships/notesSlide" Target="/ppt/notesSlides/notesSlide3.xml" Id="Rab94bf0a89a04d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890afd2503443d" /><Relationship Type="http://schemas.openxmlformats.org/officeDocument/2006/relationships/notesSlide" Target="/ppt/notesSlides/notesSlide4.xml" Id="R69078b09ac9144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227dc8f8f84e74" /><Relationship Type="http://schemas.openxmlformats.org/officeDocument/2006/relationships/notesSlide" Target="/ppt/notesSlides/notesSlide5.xml" Id="Rab20967a16f64c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0c3b56e0114d83" /><Relationship Type="http://schemas.openxmlformats.org/officeDocument/2006/relationships/notesSlide" Target="/ppt/notesSlides/notesSlide6.xml" Id="Rb26c9a0afe924e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92a240e3de458e" /><Relationship Type="http://schemas.openxmlformats.org/officeDocument/2006/relationships/notesSlide" Target="/ppt/notesSlides/notesSlide7.xml" Id="R3398e1b14b2e425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eyebrow">
            <a:extLst xmlns:a="http://schemas.openxmlformats.org/drawingml/2006/main">
              <a:ext uri="{FF2B5EF4-FFF2-40B4-BE49-F238E27FC236}">
                <a16:creationId xmlns:a16="http://schemas.microsoft.com/office/drawing/2014/main" id="{2D7CA725-ACAB-44F3-A20F-DFD41FFE7FD8}"/>
              </a:ext>
            </a:extLst>
          </p:cNvPr>
          <p:cNvSpPr>
            <a:spLocks xmlns:a="http://schemas.openxmlformats.org/drawingml/2006/main" noGrp="1"/>
          </p:cNvSpPr>
          <p:nvPr/>
        </p:nvSpPr>
        <p:spPr>
          <a:xfrm xmlns:a="http://schemas.openxmlformats.org/drawingml/2006/main">
            <a:off x="457200" y="400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GAMOTA / MISSION 2</a:t>
            </a:r>
          </a:p>
        </p:txBody>
      </p:sp>
      <p:sp>
        <p:nvSpPr>
          <p:cNvPr id="2" name="cover">
            <a:extLst xmlns:a="http://schemas.openxmlformats.org/drawingml/2006/main">
              <a:ext uri="{FF2B5EF4-FFF2-40B4-BE49-F238E27FC236}">
                <a16:creationId xmlns:a16="http://schemas.microsoft.com/office/drawing/2014/main" id="{DD1C52E8-6B58-4243-A78D-22304A93EF8C}"/>
              </a:ext>
            </a:extLst>
          </p:cNvPr>
          <p:cNvSpPr>
            <a:spLocks xmlns:a="http://schemas.openxmlformats.org/drawingml/2006/main" noGrp="1"/>
          </p:cNvSpPr>
          <p:nvPr/>
        </p:nvSpPr>
        <p:spPr>
          <a:xfrm xmlns:a="http://schemas.openxmlformats.org/drawingml/2006/main">
            <a:off x="457200" y="17907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0" b="1">
                <a:solidFill>
                  <a:srgbClr val="000000"/>
                </a:solidFill>
                <a:latin typeface="Arial"/>
                <a:ea typeface="Arial"/>
                <a:cs typeface="Arial"/>
              </a:defRPr>
            </a:pPr>
            <a:r>
              <a:rPr sz="6000" b="1">
                <a:solidFill>
                  <a:srgbClr val="000000"/>
                </a:solidFill>
                <a:latin typeface="Arial"/>
                <a:ea typeface="Arial"/>
                <a:cs typeface="Arial"/>
              </a:rPr>
              <a:t>Nghiên cứu</a:t>
            </a:r>
          </a:p>
          <a:p xmlns:a="http://schemas.openxmlformats.org/drawingml/2006/main">
            <a:pPr algn="l">
              <a:defRPr sz="6000" b="1">
                <a:solidFill>
                  <a:srgbClr val="000000"/>
                </a:solidFill>
                <a:latin typeface="Arial"/>
                <a:ea typeface="Arial"/>
                <a:cs typeface="Arial"/>
              </a:defRPr>
            </a:pPr>
            <a:r>
              <a:rPr sz="6000" b="1">
                <a:solidFill>
                  <a:srgbClr val="000000"/>
                </a:solidFill>
                <a:latin typeface="Arial"/>
                <a:ea typeface="Arial"/>
                <a:cs typeface="Arial"/>
              </a:rPr>
              <a:t>có căn cứ</a:t>
            </a:r>
          </a:p>
        </p:txBody>
      </p:sp>
      <p:sp>
        <p:nvSpPr>
          <p:cNvPr id="3" name="subtitle">
            <a:extLst xmlns:a="http://schemas.openxmlformats.org/drawingml/2006/main">
              <a:ext uri="{FF2B5EF4-FFF2-40B4-BE49-F238E27FC236}">
                <a16:creationId xmlns:a16="http://schemas.microsoft.com/office/drawing/2014/main" id="{3C079C44-9FBB-487C-AB9F-D95F687E7670}"/>
              </a:ext>
            </a:extLst>
          </p:cNvPr>
          <p:cNvSpPr>
            <a:spLocks xmlns:a="http://schemas.openxmlformats.org/drawingml/2006/main" noGrp="1"/>
          </p:cNvSpPr>
          <p:nvPr/>
        </p:nvSpPr>
        <p:spPr>
          <a:xfrm xmlns:a="http://schemas.openxmlformats.org/drawingml/2006/main">
            <a:off x="457200" y="4810125"/>
            <a:ext cx="10810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MVP hỗ trợ nghiên cứu thị trường game</a:t>
            </a:r>
          </a:p>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Mai Ngọc Duy · 15/10/2026</a:t>
            </a:r>
          </a:p>
        </p:txBody>
      </p:sp>
    </p:spTree>
    <p:extLst>
      <p:ext uri="{BB962C8B-B14F-4D97-AF65-F5344CB8AC3E}">
        <p14:creationId xmlns:p14="http://schemas.microsoft.com/office/powerpoint/2010/main" val="17653220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headline">
            <a:extLst xmlns:a="http://schemas.openxmlformats.org/drawingml/2006/main">
              <a:ext uri="{FF2B5EF4-FFF2-40B4-BE49-F238E27FC236}">
                <a16:creationId xmlns:a16="http://schemas.microsoft.com/office/drawing/2014/main" id="{68DA8D15-D4E1-4C28-B6BB-451FDE569E73}"/>
              </a:ext>
            </a:extLst>
          </p:cNvPr>
          <p:cNvSpPr>
            <a:spLocks xmlns:a="http://schemas.openxmlformats.org/drawingml/2006/main" noGrp="1"/>
          </p:cNvSpPr>
          <p:nvPr/>
        </p:nvSpPr>
        <p:spPr>
          <a:xfrm xmlns:a="http://schemas.openxmlformats.org/drawingml/2006/main">
            <a:off x="457200" y="3619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Nguồn → nhận định → kiểm chứng</a:t>
            </a:r>
          </a:p>
        </p:txBody>
      </p:sp>
      <p:sp>
        <p:nvSpPr>
          <p:cNvPr id="2" name="page">
            <a:extLst xmlns:a="http://schemas.openxmlformats.org/drawingml/2006/main">
              <a:ext uri="{FF2B5EF4-FFF2-40B4-BE49-F238E27FC236}">
                <a16:creationId xmlns:a16="http://schemas.microsoft.com/office/drawing/2014/main" id="{B521EE36-A3A3-4BB3-ACC0-5786E8B8E816}"/>
              </a:ext>
            </a:extLst>
          </p:cNvPr>
          <p:cNvSpPr>
            <a:spLocks xmlns:a="http://schemas.openxmlformats.org/drawingml/2006/main" noGrp="1"/>
          </p:cNvSpPr>
          <p:nvPr/>
        </p:nvSpPr>
        <p:spPr>
          <a:xfrm xmlns:a="http://schemas.openxmlformats.org/drawingml/2006/main">
            <a:off x="11191875" y="6343650"/>
            <a:ext cx="542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6666"/>
                </a:solidFill>
                <a:latin typeface="Arial"/>
                <a:ea typeface="Arial"/>
                <a:cs typeface="Arial"/>
              </a:defRPr>
            </a:pPr>
            <a:r>
              <a:rPr sz="1650" b="0">
                <a:solidFill>
                  <a:srgbClr val="666666"/>
                </a:solidFill>
                <a:latin typeface="Arial"/>
                <a:ea typeface="Arial"/>
                <a:cs typeface="Arial"/>
              </a:rPr>
              <a:t>02</a:t>
            </a:r>
          </a:p>
        </p:txBody>
      </p:sp>
      <p:cxnSp>
        <p:nvCxnSpPr>
          <p:cNvPr id="18" name=""/>
          <p:cNvCxnSpPr/>
          <p:nvPr/>
        </p:nvCxnSpPr>
        <p:spPr>
          <a:xfrm xmlns:a="http://schemas.openxmlformats.org/drawingml/2006/main">
            <a:off x="504825" y="3248025"/>
            <a:ext cx="10906125" cy="0"/>
          </a:xfrm>
          <a:prstGeom xmlns:a="http://schemas.openxmlformats.org/drawingml/2006/main" prst="straightConnector1">
            <a:avLst/>
          </a:prstGeom>
          <a:ln xmlns:a="http://schemas.openxmlformats.org/drawingml/2006/main" w="19050">
            <a:solidFill>
              <a:srgbClr val="B8BCC4"/>
            </a:solidFill>
          </a:ln>
        </p:spPr>
      </p:cxnSp>
      <p:sp>
        <p:nvSpPr>
          <p:cNvPr id="4" name="step-01">
            <a:extLst xmlns:a="http://schemas.openxmlformats.org/drawingml/2006/main">
              <a:ext uri="{FF2B5EF4-FFF2-40B4-BE49-F238E27FC236}">
                <a16:creationId xmlns:a16="http://schemas.microsoft.com/office/drawing/2014/main" id="{AEC35F1D-7477-45C6-81FB-A223ECC1BE88}"/>
              </a:ext>
            </a:extLst>
          </p:cNvPr>
          <p:cNvSpPr>
            <a:spLocks xmlns:a="http://schemas.openxmlformats.org/drawingml/2006/main" noGrp="1"/>
          </p:cNvSpPr>
          <p:nvPr/>
        </p:nvSpPr>
        <p:spPr>
          <a:xfrm xmlns:a="http://schemas.openxmlformats.org/drawingml/2006/main">
            <a:off x="457200" y="25812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9BF8527-8531-4A67-984E-269B2D7C075C}"/>
              </a:ext>
            </a:extLst>
          </p:cNvPr>
          <p:cNvSpPr>
            <a:spLocks xmlns:a="http://schemas.openxmlformats.org/drawingml/2006/main" noGrp="1"/>
          </p:cNvSpPr>
          <p:nvPr/>
        </p:nvSpPr>
        <p:spPr>
          <a:xfrm xmlns:a="http://schemas.openxmlformats.org/drawingml/2006/main">
            <a:off x="457200" y="3190875"/>
            <a:ext cx="114300" cy="11430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step-title-01">
            <a:extLst xmlns:a="http://schemas.openxmlformats.org/drawingml/2006/main">
              <a:ext uri="{FF2B5EF4-FFF2-40B4-BE49-F238E27FC236}">
                <a16:creationId xmlns:a16="http://schemas.microsoft.com/office/drawing/2014/main" id="{1670043C-9194-409B-BEE2-E8CB63626642}"/>
              </a:ext>
            </a:extLst>
          </p:cNvPr>
          <p:cNvSpPr>
            <a:spLocks xmlns:a="http://schemas.openxmlformats.org/drawingml/2006/main" noGrp="1"/>
          </p:cNvSpPr>
          <p:nvPr/>
        </p:nvSpPr>
        <p:spPr>
          <a:xfrm xmlns:a="http://schemas.openxmlformats.org/drawingml/2006/main">
            <a:off x="457200" y="371475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Đọc nguồn</a:t>
            </a:r>
          </a:p>
        </p:txBody>
      </p:sp>
      <p:sp>
        <p:nvSpPr>
          <p:cNvPr id="7" name="step-body-01">
            <a:extLst xmlns:a="http://schemas.openxmlformats.org/drawingml/2006/main">
              <a:ext uri="{FF2B5EF4-FFF2-40B4-BE49-F238E27FC236}">
                <a16:creationId xmlns:a16="http://schemas.microsoft.com/office/drawing/2014/main" id="{8BD9CF1F-CE10-4ADC-8E7F-777CE7364C40}"/>
              </a:ext>
            </a:extLst>
          </p:cNvPr>
          <p:cNvSpPr>
            <a:spLocks xmlns:a="http://schemas.openxmlformats.org/drawingml/2006/main" noGrp="1"/>
          </p:cNvSpPr>
          <p:nvPr/>
        </p:nvSpPr>
        <p:spPr>
          <a:xfrm xmlns:a="http://schemas.openxmlformats.org/drawingml/2006/main">
            <a:off x="457200" y="4362450"/>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Câu hỏi và phạm vi.</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URL/PDF có lớp chữ.</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Giữ snapshot và vị trí.</a:t>
            </a:r>
          </a:p>
        </p:txBody>
      </p:sp>
      <p:sp>
        <p:nvSpPr>
          <p:cNvPr id="8" name="step-02">
            <a:extLst xmlns:a="http://schemas.openxmlformats.org/drawingml/2006/main">
              <a:ext uri="{FF2B5EF4-FFF2-40B4-BE49-F238E27FC236}">
                <a16:creationId xmlns:a16="http://schemas.microsoft.com/office/drawing/2014/main" id="{254C5B08-B012-4790-AD55-ADE34BDA4555}"/>
              </a:ext>
            </a:extLst>
          </p:cNvPr>
          <p:cNvSpPr>
            <a:spLocks xmlns:a="http://schemas.openxmlformats.org/drawingml/2006/main" noGrp="1"/>
          </p:cNvSpPr>
          <p:nvPr/>
        </p:nvSpPr>
        <p:spPr>
          <a:xfrm xmlns:a="http://schemas.openxmlformats.org/drawingml/2006/main">
            <a:off x="4343400" y="25812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4DE22541-13FD-4CEA-AE9F-E5F40ACD7C6F}"/>
              </a:ext>
            </a:extLst>
          </p:cNvPr>
          <p:cNvSpPr>
            <a:spLocks xmlns:a="http://schemas.openxmlformats.org/drawingml/2006/main" noGrp="1"/>
          </p:cNvSpPr>
          <p:nvPr/>
        </p:nvSpPr>
        <p:spPr>
          <a:xfrm xmlns:a="http://schemas.openxmlformats.org/drawingml/2006/main">
            <a:off x="4343400" y="3190875"/>
            <a:ext cx="114300" cy="11430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0" name="step-title-02">
            <a:extLst xmlns:a="http://schemas.openxmlformats.org/drawingml/2006/main">
              <a:ext uri="{FF2B5EF4-FFF2-40B4-BE49-F238E27FC236}">
                <a16:creationId xmlns:a16="http://schemas.microsoft.com/office/drawing/2014/main" id="{47872397-0474-4A93-931C-C5A0455E832F}"/>
              </a:ext>
            </a:extLst>
          </p:cNvPr>
          <p:cNvSpPr>
            <a:spLocks xmlns:a="http://schemas.openxmlformats.org/drawingml/2006/main" noGrp="1"/>
          </p:cNvSpPr>
          <p:nvPr/>
        </p:nvSpPr>
        <p:spPr>
          <a:xfrm xmlns:a="http://schemas.openxmlformats.org/drawingml/2006/main">
            <a:off x="4343400" y="371475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Sinh nhận định</a:t>
            </a:r>
          </a:p>
        </p:txBody>
      </p:sp>
      <p:sp>
        <p:nvSpPr>
          <p:cNvPr id="11" name="step-body-02">
            <a:extLst xmlns:a="http://schemas.openxmlformats.org/drawingml/2006/main">
              <a:ext uri="{FF2B5EF4-FFF2-40B4-BE49-F238E27FC236}">
                <a16:creationId xmlns:a16="http://schemas.microsoft.com/office/drawing/2014/main" id="{EADA8D94-775F-4A2F-BB8C-0D0B0EE250DD}"/>
              </a:ext>
            </a:extLst>
          </p:cNvPr>
          <p:cNvSpPr>
            <a:spLocks xmlns:a="http://schemas.openxmlformats.org/drawingml/2006/main" noGrp="1"/>
          </p:cNvSpPr>
          <p:nvPr/>
        </p:nvSpPr>
        <p:spPr>
          <a:xfrm xmlns:a="http://schemas.openxmlformats.org/drawingml/2006/main">
            <a:off x="4343400" y="4362450"/>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Evidence, fact, suy luận.</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Nguồn, mâu thuẫn,</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thông tin còn thiếu.</a:t>
            </a:r>
          </a:p>
        </p:txBody>
      </p:sp>
      <p:sp>
        <p:nvSpPr>
          <p:cNvPr id="12" name="step-03">
            <a:extLst xmlns:a="http://schemas.openxmlformats.org/drawingml/2006/main">
              <a:ext uri="{FF2B5EF4-FFF2-40B4-BE49-F238E27FC236}">
                <a16:creationId xmlns:a16="http://schemas.microsoft.com/office/drawing/2014/main" id="{01934DE6-855B-4926-932C-9DE185B80B3A}"/>
              </a:ext>
            </a:extLst>
          </p:cNvPr>
          <p:cNvSpPr>
            <a:spLocks xmlns:a="http://schemas.openxmlformats.org/drawingml/2006/main" noGrp="1"/>
          </p:cNvSpPr>
          <p:nvPr/>
        </p:nvSpPr>
        <p:spPr>
          <a:xfrm xmlns:a="http://schemas.openxmlformats.org/drawingml/2006/main">
            <a:off x="8229600" y="25812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A6B7B9BF-920D-41B1-ADAD-A62D34A16E11}"/>
              </a:ext>
            </a:extLst>
          </p:cNvPr>
          <p:cNvSpPr>
            <a:spLocks xmlns:a="http://schemas.openxmlformats.org/drawingml/2006/main" noGrp="1"/>
          </p:cNvSpPr>
          <p:nvPr/>
        </p:nvSpPr>
        <p:spPr>
          <a:xfrm xmlns:a="http://schemas.openxmlformats.org/drawingml/2006/main">
            <a:off x="8229600" y="3190875"/>
            <a:ext cx="114300" cy="11430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4" name="step-title-03">
            <a:extLst xmlns:a="http://schemas.openxmlformats.org/drawingml/2006/main">
              <a:ext uri="{FF2B5EF4-FFF2-40B4-BE49-F238E27FC236}">
                <a16:creationId xmlns:a16="http://schemas.microsoft.com/office/drawing/2014/main" id="{17BC082C-0A00-488F-AEB0-EFFE4BFA1134}"/>
              </a:ext>
            </a:extLst>
          </p:cNvPr>
          <p:cNvSpPr>
            <a:spLocks xmlns:a="http://schemas.openxmlformats.org/drawingml/2006/main" noGrp="1"/>
          </p:cNvSpPr>
          <p:nvPr/>
        </p:nvSpPr>
        <p:spPr>
          <a:xfrm xmlns:a="http://schemas.openxmlformats.org/drawingml/2006/main">
            <a:off x="8229600" y="371475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Người đọc kiểm tra</a:t>
            </a:r>
          </a:p>
        </p:txBody>
      </p:sp>
      <p:sp>
        <p:nvSpPr>
          <p:cNvPr id="15" name="step-body-03">
            <a:extLst xmlns:a="http://schemas.openxmlformats.org/drawingml/2006/main">
              <a:ext uri="{FF2B5EF4-FFF2-40B4-BE49-F238E27FC236}">
                <a16:creationId xmlns:a16="http://schemas.microsoft.com/office/drawing/2014/main" id="{265F6BEB-1CAD-4663-8864-840D0C18124E}"/>
              </a:ext>
            </a:extLst>
          </p:cNvPr>
          <p:cNvSpPr>
            <a:spLocks xmlns:a="http://schemas.openxmlformats.org/drawingml/2006/main" noGrp="1"/>
          </p:cNvSpPr>
          <p:nvPr/>
        </p:nvSpPr>
        <p:spPr>
          <a:xfrm xmlns:a="http://schemas.openxmlformats.org/drawingml/2006/main">
            <a:off x="8229600" y="4362450"/>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Mở đúng đoạn nguồn.</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Ghi đánh giá, sửa nội dung.</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Xuất JSON/Markdown.</a:t>
            </a:r>
          </a:p>
        </p:txBody>
      </p:sp>
    </p:spTree>
    <p:extLst>
      <p:ext uri="{BB962C8B-B14F-4D97-AF65-F5344CB8AC3E}">
        <p14:creationId xmlns:p14="http://schemas.microsoft.com/office/powerpoint/2010/main" val="4254161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63303C18-AE6D-443C-88FE-06B782E4A0D7}"/>
              </a:ext>
            </a:extLst>
          </p:cNvPr>
          <p:cNvSpPr>
            <a:spLocks xmlns:a="http://schemas.openxmlformats.org/drawingml/2006/main" noGrp="1"/>
          </p:cNvSpPr>
          <p:nvPr/>
        </p:nvSpPr>
        <p:spPr>
          <a:xfrm xmlns:a="http://schemas.openxmlformats.org/drawingml/2006/main">
            <a:off x="457200" y="3619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Mở nhận định để kiểm tra căn cứ</a:t>
            </a:r>
          </a:p>
        </p:txBody>
      </p:sp>
      <p:sp>
        <p:nvSpPr>
          <p:cNvPr id="2" name="page">
            <a:extLst xmlns:a="http://schemas.openxmlformats.org/drawingml/2006/main">
              <a:ext uri="{FF2B5EF4-FFF2-40B4-BE49-F238E27FC236}">
                <a16:creationId xmlns:a16="http://schemas.microsoft.com/office/drawing/2014/main" id="{A7A4E3E0-4563-41B4-9ABD-42B887B33033}"/>
              </a:ext>
            </a:extLst>
          </p:cNvPr>
          <p:cNvSpPr>
            <a:spLocks xmlns:a="http://schemas.openxmlformats.org/drawingml/2006/main" noGrp="1"/>
          </p:cNvSpPr>
          <p:nvPr/>
        </p:nvSpPr>
        <p:spPr>
          <a:xfrm xmlns:a="http://schemas.openxmlformats.org/drawingml/2006/main">
            <a:off x="11191875" y="6343650"/>
            <a:ext cx="542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6666"/>
                </a:solidFill>
                <a:latin typeface="Arial"/>
                <a:ea typeface="Arial"/>
                <a:cs typeface="Arial"/>
              </a:defRPr>
            </a:pPr>
            <a:r>
              <a:rPr sz="1650" b="0">
                <a:solidFill>
                  <a:srgbClr val="666666"/>
                </a:solidFill>
                <a:latin typeface="Arial"/>
                <a:ea typeface="Arial"/>
                <a:cs typeface="Arial"/>
              </a:rPr>
              <a:t>03</a:t>
            </a:r>
          </a:p>
        </p:txBody>
      </p:sp>
      <p:sp>
        <p:nvSpPr>
          <p:cNvPr id="3" name="demo-label">
            <a:extLst xmlns:a="http://schemas.openxmlformats.org/drawingml/2006/main">
              <a:ext uri="{FF2B5EF4-FFF2-40B4-BE49-F238E27FC236}">
                <a16:creationId xmlns:a16="http://schemas.microsoft.com/office/drawing/2014/main" id="{EB2ED269-FBC9-43AC-8A0D-73991FFE673F}"/>
              </a:ext>
            </a:extLst>
          </p:cNvPr>
          <p:cNvSpPr>
            <a:spLocks xmlns:a="http://schemas.openxmlformats.org/drawingml/2006/main" noGrp="1"/>
          </p:cNvSpPr>
          <p:nvPr/>
        </p:nvSpPr>
        <p:spPr>
          <a:xfrm xmlns:a="http://schemas.openxmlformats.org/drawingml/2006/main">
            <a:off x="457200" y="1857375"/>
            <a:ext cx="371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Ảnh UI thật</a:t>
            </a:r>
          </a:p>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Dữ liệu giả lập / replay</a:t>
            </a:r>
          </a:p>
        </p:txBody>
      </p:sp>
      <p:sp>
        <p:nvSpPr>
          <p:cNvPr id="4" name="demo-body">
            <a:extLst xmlns:a="http://schemas.openxmlformats.org/drawingml/2006/main">
              <a:ext uri="{FF2B5EF4-FFF2-40B4-BE49-F238E27FC236}">
                <a16:creationId xmlns:a16="http://schemas.microsoft.com/office/drawing/2014/main" id="{732C06D9-B160-4578-883A-1F34DC7AC190}"/>
              </a:ext>
            </a:extLst>
          </p:cNvPr>
          <p:cNvSpPr>
            <a:spLocks xmlns:a="http://schemas.openxmlformats.org/drawingml/2006/main" noGrp="1"/>
          </p:cNvSpPr>
          <p:nvPr/>
        </p:nvSpPr>
        <p:spPr>
          <a:xfrm xmlns:a="http://schemas.openxmlformats.org/drawingml/2006/main">
            <a:off x="457200" y="3257550"/>
            <a:ext cx="3714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Một nhận định dẫn tới:</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Đoạn trích nguyên văn</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Nguồn, hash và vị trí</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Ngữ cảnh để kiểm tra</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3749b6717f74e1a"/>
          <a:stretch xmlns:a="http://schemas.openxmlformats.org/drawingml/2006/main"/>
        </p:blipFill>
        <p:spPr>
          <a:xfrm xmlns:a="http://schemas.openxmlformats.org/drawingml/2006/main">
            <a:off x="4579938" y="1466850"/>
            <a:ext cx="6908800" cy="4857750"/>
          </a:xfrm>
          <a:prstGeom xmlns:a="http://schemas.openxmlformats.org/drawingml/2006/main" prst="rect">
            <a:avLst/>
          </a:prstGeom>
        </p:spPr>
      </p:pic>
    </p:spTree>
    <p:extLst>
      <p:ext uri="{BB962C8B-B14F-4D97-AF65-F5344CB8AC3E}">
        <p14:creationId xmlns:p14="http://schemas.microsoft.com/office/powerpoint/2010/main" val="15564606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headline">
            <a:extLst xmlns:a="http://schemas.openxmlformats.org/drawingml/2006/main">
              <a:ext uri="{FF2B5EF4-FFF2-40B4-BE49-F238E27FC236}">
                <a16:creationId xmlns:a16="http://schemas.microsoft.com/office/drawing/2014/main" id="{3EE40E78-9719-4503-8F7F-908733D0A258}"/>
              </a:ext>
            </a:extLst>
          </p:cNvPr>
          <p:cNvSpPr>
            <a:spLocks xmlns:a="http://schemas.openxmlformats.org/drawingml/2006/main" noGrp="1"/>
          </p:cNvSpPr>
          <p:nvPr/>
        </p:nvSpPr>
        <p:spPr>
          <a:xfrm xmlns:a="http://schemas.openxmlformats.org/drawingml/2006/main">
            <a:off x="457200" y="3619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Thiếu dữ liệu phải ảnh hưởng kết luận</a:t>
            </a:r>
          </a:p>
        </p:txBody>
      </p:sp>
      <p:sp>
        <p:nvSpPr>
          <p:cNvPr id="2" name="page">
            <a:extLst xmlns:a="http://schemas.openxmlformats.org/drawingml/2006/main">
              <a:ext uri="{FF2B5EF4-FFF2-40B4-BE49-F238E27FC236}">
                <a16:creationId xmlns:a16="http://schemas.microsoft.com/office/drawing/2014/main" id="{A8542C52-B224-44D5-A785-AFDE100F7CF6}"/>
              </a:ext>
            </a:extLst>
          </p:cNvPr>
          <p:cNvSpPr>
            <a:spLocks xmlns:a="http://schemas.openxmlformats.org/drawingml/2006/main" noGrp="1"/>
          </p:cNvSpPr>
          <p:nvPr/>
        </p:nvSpPr>
        <p:spPr>
          <a:xfrm xmlns:a="http://schemas.openxmlformats.org/drawingml/2006/main">
            <a:off x="11191875" y="6343650"/>
            <a:ext cx="542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6666"/>
                </a:solidFill>
                <a:latin typeface="Arial"/>
                <a:ea typeface="Arial"/>
                <a:cs typeface="Arial"/>
              </a:defRPr>
            </a:pPr>
            <a:r>
              <a:rPr sz="1650" b="0">
                <a:solidFill>
                  <a:srgbClr val="666666"/>
                </a:solidFill>
                <a:latin typeface="Arial"/>
                <a:ea typeface="Arial"/>
                <a:cs typeface="Arial"/>
              </a:rPr>
              <a:t>04</a:t>
            </a:r>
          </a:p>
        </p:txBody>
      </p:sp>
      <p:sp>
        <p:nvSpPr>
          <p:cNvPr id="3" name="source-title">
            <a:extLst xmlns:a="http://schemas.openxmlformats.org/drawingml/2006/main">
              <a:ext uri="{FF2B5EF4-FFF2-40B4-BE49-F238E27FC236}">
                <a16:creationId xmlns:a16="http://schemas.microsoft.com/office/drawing/2014/main" id="{13261C40-EAC5-4D0E-B27D-B35C0F2124DF}"/>
              </a:ext>
            </a:extLst>
          </p:cNvPr>
          <p:cNvSpPr>
            <a:spLocks xmlns:a="http://schemas.openxmlformats.org/drawingml/2006/main" noGrp="1"/>
          </p:cNvSpPr>
          <p:nvPr/>
        </p:nvSpPr>
        <p:spPr>
          <a:xfrm xmlns:a="http://schemas.openxmlformats.org/drawingml/2006/main">
            <a:off x="457200" y="1962150"/>
            <a:ext cx="5286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Đánh giá theo nhận định</a:t>
            </a:r>
          </a:p>
        </p:txBody>
      </p:sp>
      <p:sp>
        <p:nvSpPr>
          <p:cNvPr id="4" name="source-body">
            <a:extLst xmlns:a="http://schemas.openxmlformats.org/drawingml/2006/main">
              <a:ext uri="{FF2B5EF4-FFF2-40B4-BE49-F238E27FC236}">
                <a16:creationId xmlns:a16="http://schemas.microsoft.com/office/drawing/2014/main" id="{AAE0D32F-E86D-425A-A3D3-F3D3A4BCFD04}"/>
              </a:ext>
            </a:extLst>
          </p:cNvPr>
          <p:cNvSpPr>
            <a:spLocks xmlns:a="http://schemas.openxmlformats.org/drawingml/2006/main" noGrp="1"/>
          </p:cNvSpPr>
          <p:nvPr/>
        </p:nvSpPr>
        <p:spPr>
          <a:xfrm xmlns:a="http://schemas.openxmlformats.org/drawingml/2006/main">
            <a:off x="457200" y="2762250"/>
            <a:ext cx="5286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000000"/>
                </a:solidFill>
                <a:latin typeface="Arial"/>
                <a:ea typeface="Arial"/>
                <a:cs typeface="Arial"/>
              </a:defRPr>
            </a:pPr>
            <a:r>
              <a:rPr sz="2175" b="0">
                <a:solidFill>
                  <a:srgbClr val="000000"/>
                </a:solidFill>
                <a:latin typeface="Arial"/>
                <a:ea typeface="Arial"/>
                <a:cs typeface="Arial"/>
              </a:rPr>
              <a:t>Nguồn gốc và phương pháp</a:t>
            </a:r>
          </a:p>
          <a:p xmlns:a="http://schemas.openxmlformats.org/drawingml/2006/main">
            <a:pPr algn="l">
              <a:defRPr sz="2175" b="0">
                <a:solidFill>
                  <a:srgbClr val="000000"/>
                </a:solidFill>
                <a:latin typeface="Arial"/>
                <a:ea typeface="Arial"/>
                <a:cs typeface="Arial"/>
              </a:defRPr>
            </a:pPr>
            <a:r>
              <a:rPr sz="2175" b="0">
                <a:solidFill>
                  <a:srgbClr val="000000"/>
                </a:solidFill>
                <a:latin typeface="Arial"/>
                <a:ea typeface="Arial"/>
                <a:cs typeface="Arial"/>
              </a:rPr>
              <a:t>Quốc gia, nền tảng, kỳ đo</a:t>
            </a:r>
          </a:p>
          <a:p xmlns:a="http://schemas.openxmlformats.org/drawingml/2006/main">
            <a:pPr algn="l">
              <a:defRPr sz="2175" b="0">
                <a:solidFill>
                  <a:srgbClr val="000000"/>
                </a:solidFill>
                <a:latin typeface="Arial"/>
                <a:ea typeface="Arial"/>
                <a:cs typeface="Arial"/>
              </a:defRPr>
            </a:pPr>
            <a:r>
              <a:rPr sz="2175" b="0">
                <a:solidFill>
                  <a:srgbClr val="000000"/>
                </a:solidFill>
                <a:latin typeface="Arial"/>
                <a:ea typeface="Arial"/>
                <a:cs typeface="Arial"/>
              </a:rPr>
              <a:t>Lợi ích và quan hệ nguồn</a:t>
            </a:r>
          </a:p>
          <a:p xmlns:a="http://schemas.openxmlformats.org/drawingml/2006/main">
            <a:r>
              <a:t/>
            </a:r>
          </a:p>
          <a:p xmlns:a="http://schemas.openxmlformats.org/drawingml/2006/main">
            <a:pPr algn="l">
              <a:defRPr sz="2175" b="0">
                <a:solidFill>
                  <a:srgbClr val="000000"/>
                </a:solidFill>
                <a:latin typeface="Arial"/>
                <a:ea typeface="Arial"/>
                <a:cs typeface="Arial"/>
              </a:defRPr>
            </a:pPr>
            <a:r>
              <a:rPr sz="2175" b="0">
                <a:solidFill>
                  <a:srgbClr val="000000"/>
                </a:solidFill>
                <a:latin typeface="Arial"/>
                <a:ea typeface="Arial"/>
                <a:cs typeface="Arial"/>
              </a:rPr>
              <a:t>Nguồn chính thức vẫn có giới hạn.</a:t>
            </a:r>
          </a:p>
        </p:txBody>
      </p:sp>
      <p:sp>
        <p:nvSpPr>
          <p:cNvPr id="5" name="unknown-title">
            <a:extLst xmlns:a="http://schemas.openxmlformats.org/drawingml/2006/main">
              <a:ext uri="{FF2B5EF4-FFF2-40B4-BE49-F238E27FC236}">
                <a16:creationId xmlns:a16="http://schemas.microsoft.com/office/drawing/2014/main" id="{18E7E3A9-A0CE-4F34-8713-B23B6AE4209B}"/>
              </a:ext>
            </a:extLst>
          </p:cNvPr>
          <p:cNvSpPr>
            <a:spLocks xmlns:a="http://schemas.openxmlformats.org/drawingml/2006/main" noGrp="1"/>
          </p:cNvSpPr>
          <p:nvPr/>
        </p:nvSpPr>
        <p:spPr>
          <a:xfrm xmlns:a="http://schemas.openxmlformats.org/drawingml/2006/main">
            <a:off x="6257925" y="1962150"/>
            <a:ext cx="5476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Không đủ căn cứ → bổ sung dữ liệu</a:t>
            </a:r>
          </a:p>
        </p:txBody>
      </p:sp>
      <p:sp>
        <p:nvSpPr>
          <p:cNvPr id="6" name="unknown-body">
            <a:extLst xmlns:a="http://schemas.openxmlformats.org/drawingml/2006/main">
              <a:ext uri="{FF2B5EF4-FFF2-40B4-BE49-F238E27FC236}">
                <a16:creationId xmlns:a16="http://schemas.microsoft.com/office/drawing/2014/main" id="{3B982B3E-D1DD-4DA8-B450-A9543076A208}"/>
              </a:ext>
            </a:extLst>
          </p:cNvPr>
          <p:cNvSpPr>
            <a:spLocks xmlns:a="http://schemas.openxmlformats.org/drawingml/2006/main" noGrp="1"/>
          </p:cNvSpPr>
          <p:nvPr/>
        </p:nvSpPr>
        <p:spPr>
          <a:xfrm xmlns:a="http://schemas.openxmlformats.org/drawingml/2006/main">
            <a:off x="6257925" y="3048000"/>
            <a:ext cx="54768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Unknown giữ null.</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Chỉ số khác nhau chưa phải mâu thuẫn.</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Xung đột chưa giải quyết chặn lựa chọn.</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Review được lưu trước và sau sửa.</a:t>
            </a:r>
          </a:p>
        </p:txBody>
      </p:sp>
    </p:spTree>
    <p:extLst>
      <p:ext uri="{BB962C8B-B14F-4D97-AF65-F5344CB8AC3E}">
        <p14:creationId xmlns:p14="http://schemas.microsoft.com/office/powerpoint/2010/main" val="2458126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headline">
            <a:extLst xmlns:a="http://schemas.openxmlformats.org/drawingml/2006/main">
              <a:ext uri="{FF2B5EF4-FFF2-40B4-BE49-F238E27FC236}">
                <a16:creationId xmlns:a16="http://schemas.microsoft.com/office/drawing/2014/main" id="{0FA4FA5D-1C8E-46F1-9D0B-6C84CF9A237C}"/>
              </a:ext>
            </a:extLst>
          </p:cNvPr>
          <p:cNvSpPr>
            <a:spLocks xmlns:a="http://schemas.openxmlformats.org/drawingml/2006/main" noGrp="1"/>
          </p:cNvSpPr>
          <p:nvPr/>
        </p:nvSpPr>
        <p:spPr>
          <a:xfrm xmlns:a="http://schemas.openxmlformats.org/drawingml/2006/main">
            <a:off x="457200" y="3619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Kiểm thử cả ca tốt, khó và thất bại</a:t>
            </a:r>
          </a:p>
        </p:txBody>
      </p:sp>
      <p:sp>
        <p:nvSpPr>
          <p:cNvPr id="2" name="page">
            <a:extLst xmlns:a="http://schemas.openxmlformats.org/drawingml/2006/main">
              <a:ext uri="{FF2B5EF4-FFF2-40B4-BE49-F238E27FC236}">
                <a16:creationId xmlns:a16="http://schemas.microsoft.com/office/drawing/2014/main" id="{61A529BE-6251-4DF5-9A61-9F9BC54080CB}"/>
              </a:ext>
            </a:extLst>
          </p:cNvPr>
          <p:cNvSpPr>
            <a:spLocks xmlns:a="http://schemas.openxmlformats.org/drawingml/2006/main" noGrp="1"/>
          </p:cNvSpPr>
          <p:nvPr/>
        </p:nvSpPr>
        <p:spPr>
          <a:xfrm xmlns:a="http://schemas.openxmlformats.org/drawingml/2006/main">
            <a:off x="11191875" y="6343650"/>
            <a:ext cx="542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6666"/>
                </a:solidFill>
                <a:latin typeface="Arial"/>
                <a:ea typeface="Arial"/>
                <a:cs typeface="Arial"/>
              </a:defRPr>
            </a:pPr>
            <a:r>
              <a:rPr sz="1650" b="0">
                <a:solidFill>
                  <a:srgbClr val="666666"/>
                </a:solidFill>
                <a:latin typeface="Arial"/>
                <a:ea typeface="Arial"/>
                <a:cs typeface="Arial"/>
              </a:rPr>
              <a:t>05</a:t>
            </a:r>
          </a:p>
        </p:txBody>
      </p:sp>
      <p:sp>
        <p:nvSpPr>
          <p:cNvPr id="3" name="test-intro">
            <a:extLst xmlns:a="http://schemas.openxmlformats.org/drawingml/2006/main">
              <a:ext uri="{FF2B5EF4-FFF2-40B4-BE49-F238E27FC236}">
                <a16:creationId xmlns:a16="http://schemas.microsoft.com/office/drawing/2014/main" id="{662ECD14-7222-4B7D-BC0A-0AB978C384ED}"/>
              </a:ext>
            </a:extLst>
          </p:cNvPr>
          <p:cNvSpPr>
            <a:spLocks xmlns:a="http://schemas.openxmlformats.org/drawingml/2006/main" noGrp="1"/>
          </p:cNvSpPr>
          <p:nvPr/>
        </p:nvSpPr>
        <p:spPr>
          <a:xfrm xmlns:a="http://schemas.openxmlformats.org/drawingml/2006/main">
            <a:off x="457200" y="1381125"/>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67 test offline đạt · 1 browser test đạt</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Mock/fixture kiểm logic; live được ghi riêng.</a:t>
            </a:r>
          </a:p>
        </p:txBody>
      </p:sp>
      <p:graphicFrame>
        <p:nvGraphicFramePr>
          <p:cNvPr id="8" name=""/>
          <p:cNvGraphicFramePr/>
          <p:nvPr/>
        </p:nvGraphicFramePr>
        <p:xfrm>
          <a:off xmlns:a="http://schemas.openxmlformats.org/drawingml/2006/main" x="457200" y="2524125"/>
          <a:ext xmlns:a="http://schemas.openxmlformats.org/drawingml/2006/main" cx="11277600" cy="3429000"/>
        </p:xfrm>
        <a:graphic xmlns:a="http://schemas.openxmlformats.org/drawingml/2006/main">
          <a:graphicData uri="http://schemas.openxmlformats.org/drawingml/2006/table">
            <a:tbl>
              <a:tblPr/>
              <a:tblGrid>
                <a:gridCol w="4476750"/>
                <a:gridCol w="3143250"/>
                <a:gridCol w="3657600"/>
              </a:tblGrid>
              <a:tr h="428625">
                <a:tc>
                  <a:txBody>
                    <a:bodyPr/>
                    <a:lstStyle/>
                    <a:p>
                      <a:r>
                        <a:rPr sz="1725" b="1">
                          <a:solidFill>
                            <a:srgbClr val="000000"/>
                          </a:solidFill>
                          <a:latin typeface="Arial"/>
                          <a:ea typeface="Arial"/>
                          <a:cs typeface="Arial"/>
                        </a:rPr>
                        <a:t>Tình huống</a:t>
                      </a:r>
                    </a:p>
                  </a:txBody>
                  <a:tcPr marL="91440" marR="91440" marT="45720" marB="45720">
                    <a:solidFill>
                      <a:srgbClr val="EDEDED"/>
                    </a:solidFill>
                  </a:tcPr>
                </a:tc>
                <a:tc>
                  <a:txBody>
                    <a:bodyPr/>
                    <a:lstStyle/>
                    <a:p>
                      <a:r>
                        <a:rPr sz="1725" b="1">
                          <a:solidFill>
                            <a:srgbClr val="000000"/>
                          </a:solidFill>
                          <a:latin typeface="Arial"/>
                          <a:ea typeface="Arial"/>
                          <a:cs typeface="Arial"/>
                        </a:rPr>
                        <a:t>Loại kiểm thử</a:t>
                      </a:r>
                    </a:p>
                  </a:txBody>
                  <a:tcPr marL="91440" marR="91440" marT="45720" marB="45720">
                    <a:solidFill>
                      <a:srgbClr val="EDEDED"/>
                    </a:solidFill>
                  </a:tcPr>
                </a:tc>
                <a:tc>
                  <a:txBody>
                    <a:bodyPr/>
                    <a:lstStyle/>
                    <a:p>
                      <a:r>
                        <a:rPr sz="1725" b="1">
                          <a:solidFill>
                            <a:srgbClr val="000000"/>
                          </a:solidFill>
                          <a:latin typeface="Arial"/>
                          <a:ea typeface="Arial"/>
                          <a:cs typeface="Arial"/>
                        </a:rPr>
                        <a:t>Kết quả quan sát</a:t>
                      </a:r>
                    </a:p>
                  </a:txBody>
                  <a:tcPr marL="91440" marR="91440" marT="45720" marB="45720">
                    <a:solidFill>
                      <a:srgbClr val="EDEDED"/>
                    </a:solidFill>
                  </a:tcPr>
                </a:tc>
              </a:tr>
              <a:tr h="428625">
                <a:tc>
                  <a:txBody>
                    <a:bodyPr/>
                    <a:lstStyle/>
                    <a:p>
                      <a:r>
                        <a:rPr sz="1725" b="0">
                          <a:solidFill>
                            <a:srgbClr val="000000"/>
                          </a:solidFill>
                          <a:latin typeface="Arial"/>
                          <a:ea typeface="Arial"/>
                          <a:cs typeface="Arial"/>
                        </a:rPr>
                        <a:t>Câu hỏi / nguồn khác</a:t>
                      </a:r>
                    </a:p>
                  </a:txBody>
                  <a:tcPr marL="91440" marR="91440" marT="45720" marB="45720">
                    <a:solidFill>
                      <a:srgbClr val="FFFFFF"/>
                    </a:solidFill>
                  </a:tcPr>
                </a:tc>
                <a:tc>
                  <a:txBody>
                    <a:bodyPr/>
                    <a:lstStyle/>
                    <a:p>
                      <a:r>
                        <a:rPr sz="1725" b="0">
                          <a:solidFill>
                            <a:srgbClr val="000000"/>
                          </a:solidFill>
                          <a:latin typeface="Arial"/>
                          <a:ea typeface="Arial"/>
                          <a:cs typeface="Arial"/>
                        </a:rPr>
                        <a:t>Pipeline + mock</a:t>
                      </a:r>
                    </a:p>
                  </a:txBody>
                  <a:tcPr marL="91440" marR="91440" marT="45720" marB="45720">
                    <a:solidFill>
                      <a:srgbClr val="FFFFFF"/>
                    </a:solidFill>
                  </a:tcPr>
                </a:tc>
                <a:tc>
                  <a:txBody>
                    <a:bodyPr/>
                    <a:lstStyle/>
                    <a:p>
                      <a:r>
                        <a:rPr sz="1725" b="0">
                          <a:solidFill>
                            <a:srgbClr val="000000"/>
                          </a:solidFill>
                          <a:latin typeface="Arial"/>
                          <a:ea typeface="Arial"/>
                          <a:cs typeface="Arial"/>
                        </a:rPr>
                        <a:t>PASS logic</a:t>
                      </a:r>
                    </a:p>
                  </a:txBody>
                  <a:tcPr marL="91440" marR="91440" marT="45720" marB="45720">
                    <a:solidFill>
                      <a:srgbClr val="FFFFFF"/>
                    </a:solidFill>
                  </a:tcPr>
                </a:tc>
              </a:tr>
              <a:tr h="428625">
                <a:tc>
                  <a:txBody>
                    <a:bodyPr/>
                    <a:lstStyle/>
                    <a:p>
                      <a:r>
                        <a:rPr sz="1725" b="0">
                          <a:solidFill>
                            <a:srgbClr val="000000"/>
                          </a:solidFill>
                          <a:latin typeface="Arial"/>
                          <a:ea typeface="Arial"/>
                          <a:cs typeface="Arial"/>
                        </a:rPr>
                        <a:t>Unknown và kỳ đo</a:t>
                      </a:r>
                    </a:p>
                  </a:txBody>
                  <a:tcPr marL="91440" marR="91440" marT="45720" marB="45720">
                    <a:solidFill>
                      <a:srgbClr val="FFFFFF"/>
                    </a:solidFill>
                  </a:tcPr>
                </a:tc>
                <a:tc>
                  <a:txBody>
                    <a:bodyPr/>
                    <a:lstStyle/>
                    <a:p>
                      <a:r>
                        <a:rPr sz="1725" b="0">
                          <a:solidFill>
                            <a:srgbClr val="000000"/>
                          </a:solidFill>
                          <a:latin typeface="Arial"/>
                          <a:ea typeface="Arial"/>
                          <a:cs typeface="Arial"/>
                        </a:rPr>
                        <a:t>Unit / synthetic</a:t>
                      </a:r>
                    </a:p>
                  </a:txBody>
                  <a:tcPr marL="91440" marR="91440" marT="45720" marB="45720">
                    <a:solidFill>
                      <a:srgbClr val="FFFFFF"/>
                    </a:solidFill>
                  </a:tcPr>
                </a:tc>
                <a:tc>
                  <a:txBody>
                    <a:bodyPr/>
                    <a:lstStyle/>
                    <a:p>
                      <a:r>
                        <a:rPr sz="1725" b="0">
                          <a:solidFill>
                            <a:srgbClr val="000000"/>
                          </a:solidFill>
                          <a:latin typeface="Arial"/>
                          <a:ea typeface="Arial"/>
                          <a:cs typeface="Arial"/>
                        </a:rPr>
                        <a:t>PASS</a:t>
                      </a:r>
                    </a:p>
                  </a:txBody>
                  <a:tcPr marL="91440" marR="91440" marT="45720" marB="45720">
                    <a:solidFill>
                      <a:srgbClr val="FFFFFF"/>
                    </a:solidFill>
                  </a:tcPr>
                </a:tc>
              </a:tr>
              <a:tr h="428625">
                <a:tc>
                  <a:txBody>
                    <a:bodyPr/>
                    <a:lstStyle/>
                    <a:p>
                      <a:r>
                        <a:rPr sz="1725" b="0">
                          <a:solidFill>
                            <a:srgbClr val="000000"/>
                          </a:solidFill>
                          <a:latin typeface="Arial"/>
                          <a:ea typeface="Arial"/>
                          <a:cs typeface="Arial"/>
                        </a:rPr>
                        <a:t>Xung đột cùng phạm vi</a:t>
                      </a:r>
                    </a:p>
                  </a:txBody>
                  <a:tcPr marL="91440" marR="91440" marT="45720" marB="45720">
                    <a:solidFill>
                      <a:srgbClr val="FFFFFF"/>
                    </a:solidFill>
                  </a:tcPr>
                </a:tc>
                <a:tc>
                  <a:txBody>
                    <a:bodyPr/>
                    <a:lstStyle/>
                    <a:p>
                      <a:r>
                        <a:rPr sz="1725" b="0">
                          <a:solidFill>
                            <a:srgbClr val="000000"/>
                          </a:solidFill>
                          <a:latin typeface="Arial"/>
                          <a:ea typeface="Arial"/>
                          <a:cs typeface="Arial"/>
                        </a:rPr>
                        <a:t>Unit / draft mock</a:t>
                      </a:r>
                    </a:p>
                  </a:txBody>
                  <a:tcPr marL="91440" marR="91440" marT="45720" marB="45720">
                    <a:solidFill>
                      <a:srgbClr val="FFFFFF"/>
                    </a:solidFill>
                  </a:tcPr>
                </a:tc>
                <a:tc>
                  <a:txBody>
                    <a:bodyPr/>
                    <a:lstStyle/>
                    <a:p>
                      <a:r>
                        <a:rPr sz="1725" b="0">
                          <a:solidFill>
                            <a:srgbClr val="000000"/>
                          </a:solidFill>
                          <a:latin typeface="Arial"/>
                          <a:ea typeface="Arial"/>
                          <a:cs typeface="Arial"/>
                        </a:rPr>
                        <a:t>PASS, chặn lựa chọn</a:t>
                      </a:r>
                    </a:p>
                  </a:txBody>
                  <a:tcPr marL="91440" marR="91440" marT="45720" marB="45720">
                    <a:solidFill>
                      <a:srgbClr val="FFFFFF"/>
                    </a:solidFill>
                  </a:tcPr>
                </a:tc>
              </a:tr>
              <a:tr h="428625">
                <a:tc>
                  <a:txBody>
                    <a:bodyPr/>
                    <a:lstStyle/>
                    <a:p>
                      <a:r>
                        <a:rPr sz="1725" b="0">
                          <a:solidFill>
                            <a:srgbClr val="000000"/>
                          </a:solidFill>
                          <a:latin typeface="Arial"/>
                          <a:ea typeface="Arial"/>
                          <a:cs typeface="Arial"/>
                        </a:rPr>
                        <a:t>Quote bịa / PDF nhiều cột</a:t>
                      </a:r>
                    </a:p>
                  </a:txBody>
                  <a:tcPr marL="91440" marR="91440" marT="45720" marB="45720">
                    <a:solidFill>
                      <a:srgbClr val="FFFFFF"/>
                    </a:solidFill>
                  </a:tcPr>
                </a:tc>
                <a:tc>
                  <a:txBody>
                    <a:bodyPr/>
                    <a:lstStyle/>
                    <a:p>
                      <a:r>
                        <a:rPr sz="1725" b="0">
                          <a:solidFill>
                            <a:srgbClr val="000000"/>
                          </a:solidFill>
                          <a:latin typeface="Arial"/>
                          <a:ea typeface="Arial"/>
                          <a:cs typeface="Arial"/>
                        </a:rPr>
                        <a:t>Integration + parser</a:t>
                      </a:r>
                    </a:p>
                  </a:txBody>
                  <a:tcPr marL="91440" marR="91440" marT="45720" marB="45720">
                    <a:solidFill>
                      <a:srgbClr val="FFFFFF"/>
                    </a:solidFill>
                  </a:tcPr>
                </a:tc>
                <a:tc>
                  <a:txBody>
                    <a:bodyPr/>
                    <a:lstStyle/>
                    <a:p>
                      <a:r>
                        <a:rPr sz="1725" b="0">
                          <a:solidFill>
                            <a:srgbClr val="000000"/>
                          </a:solidFill>
                          <a:latin typeface="Arial"/>
                          <a:ea typeface="Arial"/>
                          <a:cs typeface="Arial"/>
                        </a:rPr>
                        <a:t>PASS regression</a:t>
                      </a:r>
                    </a:p>
                  </a:txBody>
                  <a:tcPr marL="91440" marR="91440" marT="45720" marB="45720">
                    <a:solidFill>
                      <a:srgbClr val="FFFFFF"/>
                    </a:solidFill>
                  </a:tcPr>
                </a:tc>
              </a:tr>
              <a:tr h="428625">
                <a:tc>
                  <a:txBody>
                    <a:bodyPr/>
                    <a:lstStyle/>
                    <a:p>
                      <a:r>
                        <a:rPr sz="1725" b="0">
                          <a:solidFill>
                            <a:srgbClr val="000000"/>
                          </a:solidFill>
                          <a:latin typeface="Arial"/>
                          <a:ea typeface="Arial"/>
                          <a:cs typeface="Arial"/>
                        </a:rPr>
                        <a:t>Review và export</a:t>
                      </a:r>
                    </a:p>
                  </a:txBody>
                  <a:tcPr marL="91440" marR="91440" marT="45720" marB="45720">
                    <a:solidFill>
                      <a:srgbClr val="FFFFFF"/>
                    </a:solidFill>
                  </a:tcPr>
                </a:tc>
                <a:tc>
                  <a:txBody>
                    <a:bodyPr/>
                    <a:lstStyle/>
                    <a:p>
                      <a:r>
                        <a:rPr sz="1725" b="0">
                          <a:solidFill>
                            <a:srgbClr val="000000"/>
                          </a:solidFill>
                          <a:latin typeface="Arial"/>
                          <a:ea typeface="Arial"/>
                          <a:cs typeface="Arial"/>
                        </a:rPr>
                        <a:t>Chromium / replay</a:t>
                      </a:r>
                    </a:p>
                  </a:txBody>
                  <a:tcPr marL="91440" marR="91440" marT="45720" marB="45720">
                    <a:solidFill>
                      <a:srgbClr val="FFFFFF"/>
                    </a:solidFill>
                  </a:tcPr>
                </a:tc>
                <a:tc>
                  <a:txBody>
                    <a:bodyPr/>
                    <a:lstStyle/>
                    <a:p>
                      <a:r>
                        <a:rPr sz="1725" b="0">
                          <a:solidFill>
                            <a:srgbClr val="000000"/>
                          </a:solidFill>
                          <a:latin typeface="Arial"/>
                          <a:ea typeface="Arial"/>
                          <a:cs typeface="Arial"/>
                        </a:rPr>
                        <a:t>PASS, lưu phiên bản 2</a:t>
                      </a:r>
                    </a:p>
                  </a:txBody>
                  <a:tcPr marL="91440" marR="91440" marT="45720" marB="45720">
                    <a:solidFill>
                      <a:srgbClr val="FFFFFF"/>
                    </a:solidFill>
                  </a:tcPr>
                </a:tc>
              </a:tr>
              <a:tr h="428625">
                <a:tc>
                  <a:txBody>
                    <a:bodyPr/>
                    <a:lstStyle/>
                    <a:p>
                      <a:r>
                        <a:rPr sz="1725" b="0">
                          <a:solidFill>
                            <a:srgbClr val="000000"/>
                          </a:solidFill>
                          <a:latin typeface="Arial"/>
                          <a:ea typeface="Arial"/>
                          <a:cs typeface="Arial"/>
                        </a:rPr>
                        <a:t>Sea PDF: gán sai cột</a:t>
                      </a:r>
                    </a:p>
                  </a:txBody>
                  <a:tcPr marL="91440" marR="91440" marT="45720" marB="45720">
                    <a:solidFill>
                      <a:srgbClr val="FFFFFF"/>
                    </a:solidFill>
                  </a:tcPr>
                </a:tc>
                <a:tc>
                  <a:txBody>
                    <a:bodyPr/>
                    <a:lstStyle/>
                    <a:p>
                      <a:r>
                        <a:rPr sz="1725" b="0">
                          <a:solidFill>
                            <a:srgbClr val="000000"/>
                          </a:solidFill>
                          <a:latin typeface="Arial"/>
                          <a:ea typeface="Arial"/>
                          <a:cs typeface="Arial"/>
                        </a:rPr>
                        <a:t>Nguồn thật / e1.1</a:t>
                      </a:r>
                    </a:p>
                  </a:txBody>
                  <a:tcPr marL="91440" marR="91440" marT="45720" marB="45720">
                    <a:solidFill>
                      <a:srgbClr val="FFFFFF"/>
                    </a:solidFill>
                  </a:tcPr>
                </a:tc>
                <a:tc>
                  <a:txBody>
                    <a:bodyPr/>
                    <a:lstStyle/>
                    <a:p>
                      <a:r>
                        <a:rPr sz="1725" b="0">
                          <a:solidFill>
                            <a:srgbClr val="000000"/>
                          </a:solidFill>
                          <a:latin typeface="Arial"/>
                          <a:ea typeface="Arial"/>
                          <a:cs typeface="Arial"/>
                        </a:rPr>
                        <a:t>Chưa đạt ngữ nghĩa</a:t>
                      </a:r>
                    </a:p>
                  </a:txBody>
                  <a:tcPr marL="91440" marR="91440" marT="45720" marB="45720">
                    <a:solidFill>
                      <a:srgbClr val="FFFFFF"/>
                    </a:solidFill>
                  </a:tcPr>
                </a:tc>
              </a:tr>
              <a:tr h="428625">
                <a:tc>
                  <a:txBody>
                    <a:bodyPr/>
                    <a:lstStyle/>
                    <a:p>
                      <a:r>
                        <a:rPr sz="1725" b="0">
                          <a:solidFill>
                            <a:srgbClr val="000000"/>
                          </a:solidFill>
                          <a:latin typeface="Arial"/>
                          <a:ea typeface="Arial"/>
                          <a:cs typeface="Arial"/>
                        </a:rPr>
                        <a:t>Chạy lại sau sửa PDF</a:t>
                      </a:r>
                    </a:p>
                  </a:txBody>
                  <a:tcPr marL="91440" marR="91440" marT="45720" marB="45720">
                    <a:solidFill>
                      <a:srgbClr val="FFFFFF"/>
                    </a:solidFill>
                  </a:tcPr>
                </a:tc>
                <a:tc>
                  <a:txBody>
                    <a:bodyPr/>
                    <a:lstStyle/>
                    <a:p>
                      <a:r>
                        <a:rPr sz="1725" b="0">
                          <a:solidFill>
                            <a:srgbClr val="000000"/>
                          </a:solidFill>
                          <a:latin typeface="Arial"/>
                          <a:ea typeface="Arial"/>
                          <a:cs typeface="Arial"/>
                        </a:rPr>
                        <a:t>Gemini thật / e1.2</a:t>
                      </a:r>
                    </a:p>
                  </a:txBody>
                  <a:tcPr marL="91440" marR="91440" marT="45720" marB="45720">
                    <a:solidFill>
                      <a:srgbClr val="FFFFFF"/>
                    </a:solidFill>
                  </a:tcPr>
                </a:tc>
                <a:tc>
                  <a:txBody>
                    <a:bodyPr/>
                    <a:lstStyle/>
                    <a:p>
                      <a:r>
                        <a:rPr sz="1725" b="0">
                          <a:solidFill>
                            <a:srgbClr val="000000"/>
                          </a:solidFill>
                          <a:latin typeface="Arial"/>
                          <a:ea typeface="Arial"/>
                          <a:cs typeface="Arial"/>
                        </a:rPr>
                        <a:t>BLOCKED: HTTP 429</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964590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headline">
            <a:extLst xmlns:a="http://schemas.openxmlformats.org/drawingml/2006/main">
              <a:ext uri="{FF2B5EF4-FFF2-40B4-BE49-F238E27FC236}">
                <a16:creationId xmlns:a16="http://schemas.microsoft.com/office/drawing/2014/main" id="{4EFCB1E3-8224-444D-868E-04F74670A7C2}"/>
              </a:ext>
            </a:extLst>
          </p:cNvPr>
          <p:cNvSpPr>
            <a:spLocks xmlns:a="http://schemas.openxmlformats.org/drawingml/2006/main" noGrp="1"/>
          </p:cNvSpPr>
          <p:nvPr/>
        </p:nvSpPr>
        <p:spPr>
          <a:xfrm xmlns:a="http://schemas.openxmlformats.org/drawingml/2006/main">
            <a:off x="457200" y="3619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Quote khớp vẫn có thể gán sai số</a:t>
            </a:r>
          </a:p>
        </p:txBody>
      </p:sp>
      <p:sp>
        <p:nvSpPr>
          <p:cNvPr id="2" name="page">
            <a:extLst xmlns:a="http://schemas.openxmlformats.org/drawingml/2006/main">
              <a:ext uri="{FF2B5EF4-FFF2-40B4-BE49-F238E27FC236}">
                <a16:creationId xmlns:a16="http://schemas.microsoft.com/office/drawing/2014/main" id="{D865777C-56CB-446F-B59F-DB0C31B97509}"/>
              </a:ext>
            </a:extLst>
          </p:cNvPr>
          <p:cNvSpPr>
            <a:spLocks xmlns:a="http://schemas.openxmlformats.org/drawingml/2006/main" noGrp="1"/>
          </p:cNvSpPr>
          <p:nvPr/>
        </p:nvSpPr>
        <p:spPr>
          <a:xfrm xmlns:a="http://schemas.openxmlformats.org/drawingml/2006/main">
            <a:off x="11191875" y="6343650"/>
            <a:ext cx="542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6666"/>
                </a:solidFill>
                <a:latin typeface="Arial"/>
                <a:ea typeface="Arial"/>
                <a:cs typeface="Arial"/>
              </a:defRPr>
            </a:pPr>
            <a:r>
              <a:rPr sz="1650" b="0">
                <a:solidFill>
                  <a:srgbClr val="666666"/>
                </a:solidFill>
                <a:latin typeface="Arial"/>
                <a:ea typeface="Arial"/>
                <a:cs typeface="Arial"/>
              </a:rPr>
              <a:t>06</a:t>
            </a:r>
          </a:p>
        </p:txBody>
      </p:sp>
      <p:sp>
        <p:nvSpPr>
          <p:cNvPr id="3" name="metric">
            <a:extLst xmlns:a="http://schemas.openxmlformats.org/drawingml/2006/main">
              <a:ext uri="{FF2B5EF4-FFF2-40B4-BE49-F238E27FC236}">
                <a16:creationId xmlns:a16="http://schemas.microsoft.com/office/drawing/2014/main" id="{59CABB7E-782C-4E44-9082-90DB8C32D8A9}"/>
              </a:ext>
            </a:extLst>
          </p:cNvPr>
          <p:cNvSpPr>
            <a:spLocks xmlns:a="http://schemas.openxmlformats.org/drawingml/2006/main" noGrp="1"/>
          </p:cNvSpPr>
          <p:nvPr/>
        </p:nvSpPr>
        <p:spPr>
          <a:xfrm xmlns:a="http://schemas.openxmlformats.org/drawingml/2006/main">
            <a:off x="457200" y="1857375"/>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0" b="1">
                <a:solidFill>
                  <a:srgbClr val="000000"/>
                </a:solidFill>
                <a:latin typeface="Arial"/>
                <a:ea typeface="Arial"/>
                <a:cs typeface="Arial"/>
              </a:defRPr>
            </a:pPr>
            <a:r>
              <a:rPr sz="8250" b="1">
                <a:solidFill>
                  <a:srgbClr val="000000"/>
                </a:solidFill>
                <a:latin typeface="Arial"/>
                <a:ea typeface="Arial"/>
                <a:cs typeface="Arial"/>
              </a:rPr>
              <a:t>6/6</a:t>
            </a:r>
          </a:p>
        </p:txBody>
      </p:sp>
      <p:sp>
        <p:nvSpPr>
          <p:cNvPr id="4" name="metric-label">
            <a:extLst xmlns:a="http://schemas.openxmlformats.org/drawingml/2006/main">
              <a:ext uri="{FF2B5EF4-FFF2-40B4-BE49-F238E27FC236}">
                <a16:creationId xmlns:a16="http://schemas.microsoft.com/office/drawing/2014/main" id="{6BABC205-3A6F-432D-90D2-AE8AB29C6DB7}"/>
              </a:ext>
            </a:extLst>
          </p:cNvPr>
          <p:cNvSpPr>
            <a:spLocks xmlns:a="http://schemas.openxmlformats.org/drawingml/2006/main" noGrp="1"/>
          </p:cNvSpPr>
          <p:nvPr/>
        </p:nvSpPr>
        <p:spPr>
          <a:xfrm xmlns:a="http://schemas.openxmlformats.org/drawingml/2006/main">
            <a:off x="457200" y="3486150"/>
            <a:ext cx="528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quote khớp ở ca PDF cũ</a:t>
            </a:r>
          </a:p>
        </p:txBody>
      </p:sp>
      <p:sp>
        <p:nvSpPr>
          <p:cNvPr id="5" name="failure-note">
            <a:extLst xmlns:a="http://schemas.openxmlformats.org/drawingml/2006/main">
              <a:ext uri="{FF2B5EF4-FFF2-40B4-BE49-F238E27FC236}">
                <a16:creationId xmlns:a16="http://schemas.microsoft.com/office/drawing/2014/main" id="{5A5D5E1F-1636-4856-A19F-5234AE952FC3}"/>
              </a:ext>
            </a:extLst>
          </p:cNvPr>
          <p:cNvSpPr>
            <a:spLocks xmlns:a="http://schemas.openxmlformats.org/drawingml/2006/main" noGrp="1"/>
          </p:cNvSpPr>
          <p:nvPr/>
        </p:nvSpPr>
        <p:spPr>
          <a:xfrm xmlns:a="http://schemas.openxmlformats.org/drawingml/2006/main">
            <a:off x="457200" y="4362450"/>
            <a:ext cx="5286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Nhưng đã phát hiện nhận định</a:t>
            </a:r>
          </a:p>
          <a:p xmlns:a="http://schemas.openxmlformats.org/drawingml/2006/main">
            <a:pPr algn="l">
              <a:defRPr sz="2250" b="0">
                <a:solidFill>
                  <a:srgbClr val="000000"/>
                </a:solidFill>
                <a:latin typeface="Arial"/>
                <a:ea typeface="Arial"/>
                <a:cs typeface="Arial"/>
              </a:defRPr>
            </a:pPr>
            <a:r>
              <a:rPr sz="2250" b="0">
                <a:solidFill>
                  <a:srgbClr val="000000"/>
                </a:solidFill>
                <a:latin typeface="Arial"/>
                <a:ea typeface="Arial"/>
                <a:cs typeface="Arial"/>
              </a:rPr>
              <a:t>ghép sai cột và kỳ đo.</a:t>
            </a:r>
          </a:p>
        </p:txBody>
      </p:sp>
      <p:sp>
        <p:nvSpPr>
          <p:cNvPr id="6" name="failure-title">
            <a:extLst xmlns:a="http://schemas.openxmlformats.org/drawingml/2006/main">
              <a:ext uri="{FF2B5EF4-FFF2-40B4-BE49-F238E27FC236}">
                <a16:creationId xmlns:a16="http://schemas.microsoft.com/office/drawing/2014/main" id="{FB78F9A8-E1C8-4735-A746-19F01D4BF8B1}"/>
              </a:ext>
            </a:extLst>
          </p:cNvPr>
          <p:cNvSpPr>
            <a:spLocks xmlns:a="http://schemas.openxmlformats.org/drawingml/2006/main" noGrp="1"/>
          </p:cNvSpPr>
          <p:nvPr/>
        </p:nvSpPr>
        <p:spPr>
          <a:xfrm xmlns:a="http://schemas.openxmlformats.org/drawingml/2006/main">
            <a:off x="6257925" y="1952625"/>
            <a:ext cx="5476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PDF nhiều cột là ca khó thật</a:t>
            </a:r>
          </a:p>
        </p:txBody>
      </p:sp>
      <p:sp>
        <p:nvSpPr>
          <p:cNvPr id="7" name="failure-body">
            <a:extLst xmlns:a="http://schemas.openxmlformats.org/drawingml/2006/main">
              <a:ext uri="{FF2B5EF4-FFF2-40B4-BE49-F238E27FC236}">
                <a16:creationId xmlns:a16="http://schemas.microsoft.com/office/drawing/2014/main" id="{BA353A3F-5C9A-4AF6-B3F3-27CE4FC286C8}"/>
              </a:ext>
            </a:extLst>
          </p:cNvPr>
          <p:cNvSpPr>
            <a:spLocks xmlns:a="http://schemas.openxmlformats.org/drawingml/2006/main" noGrp="1"/>
          </p:cNvSpPr>
          <p:nvPr/>
        </p:nvSpPr>
        <p:spPr>
          <a:xfrm xmlns:a="http://schemas.openxmlformats.org/drawingml/2006/main">
            <a:off x="6257925" y="2905125"/>
            <a:ext cx="54768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Bản plain làm mất quan hệ vị trí.</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Bản sửa giữ layout và nguyên trang.</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Model được yêu cầu bỏ số khi mơ hồ.</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Chưa xác minh live sau sửa: HTTP 429.</a:t>
            </a:r>
          </a:p>
        </p:txBody>
      </p:sp>
    </p:spTree>
    <p:extLst>
      <p:ext uri="{BB962C8B-B14F-4D97-AF65-F5344CB8AC3E}">
        <p14:creationId xmlns:p14="http://schemas.microsoft.com/office/powerpoint/2010/main" val="10240587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line">
            <a:extLst xmlns:a="http://schemas.openxmlformats.org/drawingml/2006/main">
              <a:ext uri="{FF2B5EF4-FFF2-40B4-BE49-F238E27FC236}">
                <a16:creationId xmlns:a16="http://schemas.microsoft.com/office/drawing/2014/main" id="{44496067-9436-42CD-9A73-1A0B86E8C1B1}"/>
              </a:ext>
            </a:extLst>
          </p:cNvPr>
          <p:cNvSpPr>
            <a:spLocks xmlns:a="http://schemas.openxmlformats.org/drawingml/2006/main" noGrp="1"/>
          </p:cNvSpPr>
          <p:nvPr/>
        </p:nvSpPr>
        <p:spPr>
          <a:xfrm xmlns:a="http://schemas.openxmlformats.org/drawingml/2006/main">
            <a:off x="457200" y="361950"/>
            <a:ext cx="11277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Bàn giao để tiếp tục kiểm chứng</a:t>
            </a:r>
          </a:p>
        </p:txBody>
      </p:sp>
      <p:sp>
        <p:nvSpPr>
          <p:cNvPr id="2" name="page">
            <a:extLst xmlns:a="http://schemas.openxmlformats.org/drawingml/2006/main">
              <a:ext uri="{FF2B5EF4-FFF2-40B4-BE49-F238E27FC236}">
                <a16:creationId xmlns:a16="http://schemas.microsoft.com/office/drawing/2014/main" id="{6A75B5CD-1747-4835-AB96-7BBCA9C86F37}"/>
              </a:ext>
            </a:extLst>
          </p:cNvPr>
          <p:cNvSpPr>
            <a:spLocks xmlns:a="http://schemas.openxmlformats.org/drawingml/2006/main" noGrp="1"/>
          </p:cNvSpPr>
          <p:nvPr/>
        </p:nvSpPr>
        <p:spPr>
          <a:xfrm xmlns:a="http://schemas.openxmlformats.org/drawingml/2006/main">
            <a:off x="11191875" y="6343650"/>
            <a:ext cx="542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66666"/>
                </a:solidFill>
                <a:latin typeface="Arial"/>
                <a:ea typeface="Arial"/>
                <a:cs typeface="Arial"/>
              </a:defRPr>
            </a:pPr>
            <a:r>
              <a:rPr sz="1650" b="0">
                <a:solidFill>
                  <a:srgbClr val="666666"/>
                </a:solidFill>
                <a:latin typeface="Arial"/>
                <a:ea typeface="Arial"/>
                <a:cs typeface="Arial"/>
              </a:rPr>
              <a:t>07</a:t>
            </a:r>
          </a:p>
        </p:txBody>
      </p:sp>
      <p:sp>
        <p:nvSpPr>
          <p:cNvPr id="3" name="handoff">
            <a:extLst xmlns:a="http://schemas.openxmlformats.org/drawingml/2006/main">
              <a:ext uri="{FF2B5EF4-FFF2-40B4-BE49-F238E27FC236}">
                <a16:creationId xmlns:a16="http://schemas.microsoft.com/office/drawing/2014/main" id="{456FD871-9F9D-4F72-9392-184A02E72C1A}"/>
              </a:ext>
            </a:extLst>
          </p:cNvPr>
          <p:cNvSpPr>
            <a:spLocks xmlns:a="http://schemas.openxmlformats.org/drawingml/2006/main" noGrp="1"/>
          </p:cNvSpPr>
          <p:nvPr/>
        </p:nvSpPr>
        <p:spPr>
          <a:xfrm xmlns:a="http://schemas.openxmlformats.org/drawingml/2006/main">
            <a:off x="457200" y="1857375"/>
            <a:ext cx="112776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Code public và hướng dẫn chạy</a:t>
            </a:r>
          </a:p>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Bộ test có actual và failure</a:t>
            </a:r>
          </a:p>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Review / export để người đọc kiểm tra</a:t>
            </a:r>
          </a:p>
        </p:txBody>
      </p:sp>
      <p:sp>
        <p:nvSpPr>
          <p:cNvPr id="4" name="repository">
            <a:extLst xmlns:a="http://schemas.openxmlformats.org/drawingml/2006/main">
              <a:ext uri="{FF2B5EF4-FFF2-40B4-BE49-F238E27FC236}">
                <a16:creationId xmlns:a16="http://schemas.microsoft.com/office/drawing/2014/main" id="{B2A18632-DF2B-40D9-A08D-E3A4F42805FC}"/>
              </a:ext>
            </a:extLst>
          </p:cNvPr>
          <p:cNvSpPr>
            <a:spLocks xmlns:a="http://schemas.openxmlformats.org/drawingml/2006/main" noGrp="1"/>
          </p:cNvSpPr>
          <p:nvPr/>
        </p:nvSpPr>
        <p:spPr>
          <a:xfrm xmlns:a="http://schemas.openxmlformats.org/drawingml/2006/main">
            <a:off x="457200" y="42386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github.com/mzuyyy/Mission-2</a:t>
            </a:r>
          </a:p>
        </p:txBody>
      </p:sp>
      <p:sp>
        <p:nvSpPr>
          <p:cNvPr id="5" name="next">
            <a:extLst xmlns:a="http://schemas.openxmlformats.org/drawingml/2006/main">
              <a:ext uri="{FF2B5EF4-FFF2-40B4-BE49-F238E27FC236}">
                <a16:creationId xmlns:a16="http://schemas.microsoft.com/office/drawing/2014/main" id="{7A69CF19-4232-4A6C-A972-ADC718FD05F0}"/>
              </a:ext>
            </a:extLst>
          </p:cNvPr>
          <p:cNvSpPr>
            <a:spLocks xmlns:a="http://schemas.openxmlformats.org/drawingml/2006/main" noGrp="1"/>
          </p:cNvSpPr>
          <p:nvPr/>
        </p:nvSpPr>
        <p:spPr>
          <a:xfrm xmlns:a="http://schemas.openxmlformats.org/drawingml/2006/main">
            <a:off x="457200" y="5191125"/>
            <a:ext cx="11277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Ưu tiên tiếp: chấm ngữ nghĩa PDF, hoàn thiện coverage</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và đo thời gian kiểm tra bằng người dùng thật.</a:t>
            </a:r>
          </a:p>
        </p:txBody>
      </p:sp>
    </p:spTree>
    <p:extLst>
      <p:ext uri="{BB962C8B-B14F-4D97-AF65-F5344CB8AC3E}">
        <p14:creationId xmlns:p14="http://schemas.microsoft.com/office/powerpoint/2010/main" val="5249335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2026-10-15T09:15:39.0440000Z</dcterms:created>
  <dcterms:modified xsi:type="dcterms:W3CDTF">2026-10-15T09:15:39.0440000Z</dcterms:modified>
</coreProperties>
</file>